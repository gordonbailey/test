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donors</c:v>
                </c:pt>
              </c:strCache>
            </c:strRef>
          </c:tx>
          <c:spPr>
            <a:solidFill>
              <a:srgbClr val="8A867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1111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Super donors (2+ gifts)</c:v>
                  </c:pt>
                  <c:pt idx="1">
                    <c:v>One-time donors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20.2</c:v>
                </c:pt>
                <c:pt idx="1">
                  <c:v>79.8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 of GDV</c:v>
                </c:pt>
              </c:strCache>
            </c:strRef>
          </c:tx>
          <c:spPr>
            <a:solidFill>
              <a:srgbClr val="02804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1111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Super donors (2+ gifts)</c:v>
                  </c:pt>
                  <c:pt idx="1">
                    <c:v>One-time donors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39.1</c:v>
                </c:pt>
                <c:pt idx="1">
                  <c:v>60.9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050" u="none">
                  <a:solidFill>
                    <a:srgbClr val="11111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552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9525" cap="flat">
              <a:solidFill>
                <a:srgbClr val="E6E2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A86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5524D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GDV ($M)</c:v>
                </c:pt>
              </c:strCache>
            </c:strRef>
          </c:tx>
          <c:spPr>
            <a:solidFill>
              <a:srgbClr val="8A86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1111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86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4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4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4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804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2804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1 gift</c:v>
                  </c:pt>
                  <c:pt idx="1">
                    <c:v>2 gifts</c:v>
                  </c:pt>
                  <c:pt idx="2">
                    <c:v>3 gifts</c:v>
                  </c:pt>
                  <c:pt idx="3">
                    <c:v>4 gifts</c:v>
                  </c:pt>
                  <c:pt idx="4">
                    <c:v>5 gifts</c:v>
                  </c:pt>
                  <c:pt idx="5">
                    <c:v>6+ gifts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2760.7</c:v>
                </c:pt>
                <c:pt idx="1">
                  <c:v>870.9</c:v>
                </c:pt>
                <c:pt idx="2">
                  <c:v>344.1</c:v>
                </c:pt>
                <c:pt idx="3">
                  <c:v>166</c:v>
                </c:pt>
                <c:pt idx="4">
                  <c:v>91.3</c:v>
                </c:pt>
                <c:pt idx="5">
                  <c:v>302.6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50" u="none">
                  <a:solidFill>
                    <a:srgbClr val="11111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552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2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A86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GDV per donor ($)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1111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 gift</c:v>
                  </c:pt>
                  <c:pt idx="1">
                    <c:v>2 gifts</c:v>
                  </c:pt>
                  <c:pt idx="2">
                    <c:v>3 gifts</c:v>
                  </c:pt>
                  <c:pt idx="3">
                    <c:v>4 gifts</c:v>
                  </c:pt>
                  <c:pt idx="4">
                    <c:v>5 gifts</c:v>
                  </c:pt>
                  <c:pt idx="5">
                    <c:v>6+ gifts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94.63</c:v>
                </c:pt>
                <c:pt idx="1">
                  <c:v>179</c:v>
                </c:pt>
                <c:pt idx="2">
                  <c:v>253.16</c:v>
                </c:pt>
                <c:pt idx="3">
                  <c:v>323.7</c:v>
                </c:pt>
                <c:pt idx="4">
                  <c:v>386.36</c:v>
                </c:pt>
                <c:pt idx="5">
                  <c:v>751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1" i="0" strike="noStrike" sz="1050" u="none">
                  <a:solidFill>
                    <a:srgbClr val="11111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552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2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A86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gift ($)</c:v>
                </c:pt>
              </c:strCache>
            </c:strRef>
          </c:tx>
          <c:spPr>
            <a:solidFill>
              <a:srgbClr val="C4531F"/>
            </a:solidFill>
            <a:effectLst/>
          </c:spPr>
          <c:invertIfNegative val="0"/>
          <c:dLbls>
            <c:numFmt formatCode="$#,##0.0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1111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 gift</c:v>
                  </c:pt>
                  <c:pt idx="1">
                    <c:v>2 gifts</c:v>
                  </c:pt>
                  <c:pt idx="2">
                    <c:v>3 gifts</c:v>
                  </c:pt>
                  <c:pt idx="3">
                    <c:v>4 gifts</c:v>
                  </c:pt>
                  <c:pt idx="4">
                    <c:v>5 gifts</c:v>
                  </c:pt>
                  <c:pt idx="5">
                    <c:v>6+ gifts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94.63</c:v>
                </c:pt>
                <c:pt idx="1">
                  <c:v>89.5</c:v>
                </c:pt>
                <c:pt idx="2">
                  <c:v>84.39</c:v>
                </c:pt>
                <c:pt idx="3">
                  <c:v>80.92</c:v>
                </c:pt>
                <c:pt idx="4">
                  <c:v>77.27</c:v>
                </c:pt>
                <c:pt idx="5">
                  <c:v>77.37</c:v>
                </c:pt>
              </c:numCache>
            </c:numRef>
          </c:val>
        </c:ser>
        <c:dLbls>
          <c:numFmt formatCode="$#,##0.00" sourceLinked="0"/>
          <c:txPr>
            <a:bodyPr/>
            <a:lstStyle/>
            <a:p>
              <a:pPr>
                <a:defRPr b="1" i="0" strike="noStrike" sz="1050" u="none">
                  <a:solidFill>
                    <a:srgbClr val="11111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552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9525" cap="flat">
              <a:solidFill>
                <a:srgbClr val="E6E2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A86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90-day repeat rate (%)</c:v>
                </c:pt>
              </c:strCache>
            </c:strRef>
          </c:tx>
          <c:spPr>
            <a:solidFill>
              <a:srgbClr val="02804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1111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4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4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4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804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A867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A867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A867F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A867F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4531F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chat</c:v>
                  </c:pt>
                  <c:pt idx="1">
                    <c:v>copy_link_all</c:v>
                  </c:pt>
                  <c:pt idx="2">
                    <c:v>copy_link</c:v>
                  </c:pt>
                  <c:pt idx="3">
                    <c:v>email</c:v>
                  </c:pt>
                  <c:pt idx="4">
                    <c:v>referral</c:v>
                  </c:pt>
                  <c:pt idx="5">
                    <c:v>social</c:v>
                  </c:pt>
                  <c:pt idx="6">
                    <c:v>partner</c:v>
                  </c:pt>
                  <c:pt idx="7">
                    <c:v>customer</c:v>
                  </c:pt>
                  <c:pt idx="8">
                    <c:v>(none)</c:v>
                  </c:pt>
                  <c:pt idx="9">
                    <c:v>organic_social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28.3</c:v>
                </c:pt>
                <c:pt idx="1">
                  <c:v>27.4</c:v>
                </c:pt>
                <c:pt idx="2">
                  <c:v>24.1</c:v>
                </c:pt>
                <c:pt idx="3">
                  <c:v>20.4</c:v>
                </c:pt>
                <c:pt idx="4">
                  <c:v>19.2</c:v>
                </c:pt>
                <c:pt idx="5">
                  <c:v>16.9</c:v>
                </c:pt>
                <c:pt idx="6">
                  <c:v>14.6</c:v>
                </c:pt>
                <c:pt idx="7">
                  <c:v>12.8</c:v>
                </c:pt>
                <c:pt idx="8">
                  <c:v>11.5</c:v>
                </c:pt>
                <c:pt idx="9">
                  <c:v>10.6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050" u="none">
                  <a:solidFill>
                    <a:srgbClr val="11111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5524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6E2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8A86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figures queried from Amplitude GFM v2 Prod. The argument is deliberately front-loaded: slide 2 carries the whole answer, everything after it is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room only reads one slide, this is it. Finding 2 is the one that changes where money goes.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the denominator. A uniques query returns a monthly average of active donors, on which super donors look like 37% of donors and the concentration argument disappears. The annual basis is the correct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Grey is the one-time band, included deliberately: the $2,761M vs $1,775M comparison is the argument. Cutting it off flatters the super donor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Selection, not causation — someone who receives a link from a friend is already closer to the cause. The correlation is strong; the causal arrow needs an experiment. Say this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where two projects meet: the strategy work says interpersonal wins, and the hackathon work already built the in-person payment rail. Nobody had connected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app.amplitude.com/analytics/gfm/cohort/1godrkur/detail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app.amplitude.com/analytics/gfm/cohort/1godrkur/details" TargetMode="External"/><Relationship Id="rId2" Type="http://schemas.openxmlformats.org/officeDocument/2006/relationships/hyperlink" Target="https://app.amplitude.com/analytics/gfm/chart/urxobg8z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A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STRATEGY  ·  JULY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GDV through repeat generosity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9509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donors produce 39% of GDV from 20% of donors — and receive the same experience as a first-time donor.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sizes the opportunity, locates it in the frequency curve, and proposes four programmes.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Gordon Bailey  ·  GoFundMe Pro  ·  Proprietary &amp;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is not the loyal tail — it is the second gift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findings, in the order they change the decision.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365760" cy="365760"/>
          </a:xfrm>
          <a:prstGeom prst="ellipse">
            <a:avLst/>
          </a:prstGeom>
          <a:solidFill>
            <a:srgbClr val="02804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883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84708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donors are 20% of donors and 39% of GDV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157984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$1,775M of $4,536M. A 1.9× over-index. The "40% of GDV" figure needs its denominator to be an argument.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2743200"/>
            <a:ext cx="365760" cy="365760"/>
          </a:xfrm>
          <a:prstGeom prst="ellipse">
            <a:avLst/>
          </a:prstGeom>
          <a:solidFill>
            <a:srgbClr val="028046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7066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of that sits in the 2-gift band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3017520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$871M from 4.9M people. The entire 6+ tail is $303M from ~403K — the smallest pot on the chart.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602736"/>
            <a:ext cx="365760" cy="365760"/>
          </a:xfrm>
          <a:prstGeom prst="ellipse">
            <a:avLst/>
          </a:prstGeom>
          <a:solidFill>
            <a:srgbClr val="028046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5661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to give again is made in 23 days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877056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time from a gift to the next. Baseline repeat rate 12.3% at 90 days.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4462272"/>
            <a:ext cx="365760" cy="365760"/>
          </a:xfrm>
          <a:prstGeom prst="ellipse">
            <a:avLst/>
          </a:prstGeom>
          <a:solidFill>
            <a:srgbClr val="028046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4462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42569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Interpersonal channels retain 2× better than broadcast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4736592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and copy-link referrals return at 27–28%. Organic social returns at 10.6% — below platform average.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5321808"/>
            <a:ext cx="365760" cy="365760"/>
          </a:xfrm>
          <a:prstGeom prst="ellipse">
            <a:avLst/>
          </a:prstGeom>
          <a:solidFill>
            <a:srgbClr val="028046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5321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528523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point of repeat-rate lift is worth ~$36M a year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97280" y="5596128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Converting 5% of one-time donors to a second gift is worth ~$123M.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Amplitude, GFM v2 Prod (530253). Donation events, trailing 12 months unless noted. GDV = sum of donation_amount.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is getting narrower, not bigger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is monetising moments of generosity more efficiently. It is not producing more generous people.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F7F6F3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214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going up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donation size, ~28% since 2024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GDV per donor at every frequency band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per moment of generosity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F7F6F3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1214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flat to down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0" y="246888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 counts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giving as a share of the base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measure of giving as a habit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0B2E1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7365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monetise moments of generosity. We do not build generous people.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14400" y="51755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strategic gaps — "giving isn’t cool" and "we under-invest in super donors" — are versions of this one sentence.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Amplitude, GFM v2 Prod. Donation-size trend per Corporate Strategy deck, July 2026.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1 OF 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donors are 20% of donors and 39% of GDV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1.9× over-index on value. This is the fact the strategy rests on — and it only works with both numbers.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68580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1828800"/>
            <a:ext cx="3931920" cy="3840480"/>
          </a:xfrm>
          <a:prstGeom prst="roundRect">
            <a:avLst>
              <a:gd name="adj" fmla="val 2143"/>
            </a:avLst>
          </a:prstGeom>
          <a:solidFill>
            <a:srgbClr val="E8F5EE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0" y="2121408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1.9×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046720" y="2834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donors over-index on GDV relative to their share of the donor base.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046720" y="3566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7.1M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046720" y="40416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in the cohort — 2+ gifts in a rolling 365 days.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046720" y="462686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$1,775M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8046720" y="51023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GDV, trailing 12 months, of $4,536M total.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Amplitude, GFM v2 Prod (530253). Donation events, trailing 12 months unless noted. GDV = sum of donation_amount. Donor counts derived as gifts ÷ N per band; cross-checked against the cohort at 7.12M (3.7% apart).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2 OF 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of super donor GDV sits in the 2-gift band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programme mechanics on the table are aimed at the loyal tail. The tail is the smallest pot on the chart.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69494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828800"/>
            <a:ext cx="3840480" cy="1783080"/>
          </a:xfrm>
          <a:prstGeom prst="roundRect">
            <a:avLst>
              <a:gd name="adj" fmla="val 4615"/>
            </a:avLst>
          </a:prstGeom>
          <a:solidFill>
            <a:srgbClr val="E8F5EE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92440" y="20299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$871M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092440" y="2606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2-gift band — 49% of all super donor GDV, from 4.9M people.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72400" y="3886200"/>
            <a:ext cx="3840480" cy="1783080"/>
          </a:xfrm>
          <a:prstGeom prst="roundRect">
            <a:avLst>
              <a:gd name="adj" fmla="val 4615"/>
            </a:avLst>
          </a:prstGeom>
          <a:solidFill>
            <a:srgbClr val="F7F6F3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92440" y="40873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4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$303M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092440" y="46634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entire 6+ tail — 17%, from ~403K people. Where awards and tiers point.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Amplitude, GFM v2 Prod (530253). Donation events, trailing 12 months unless noted. GDV = sum of donation_amount.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2 OF 5  ·  SUPPORTING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extra gift nearly doubles a donor’s value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 a second chart, not a second axis: plotted against GDV these bars invert the conclusion.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69494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828800"/>
            <a:ext cx="3840480" cy="3840480"/>
          </a:xfrm>
          <a:prstGeom prst="roundRect">
            <a:avLst>
              <a:gd name="adj" fmla="val 2143"/>
            </a:avLst>
          </a:prstGeom>
          <a:solidFill>
            <a:srgbClr val="F7F6F3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92440" y="2029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step that matters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23591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+$84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092440" y="29260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GDV added by moving one donor from one gift to two — $94.63 to $179.00.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092440" y="3840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29.2M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8092440" y="43708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One-time donors sitting exactly one gift away from that step.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Amplitude, GFM v2 Prod (530253). Donation events, trailing 12 months unless noted. GDV = sum of donation_amount.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3 OF 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gift size falls as frequency rises — plan for 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donors give more in total and less per gift. A successful frequency programme will make one KPI look worse.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69494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1828800"/>
            <a:ext cx="3840480" cy="3840480"/>
          </a:xfrm>
          <a:prstGeom prst="roundRect">
            <a:avLst>
              <a:gd name="adj" fmla="val 2143"/>
            </a:avLst>
          </a:prstGeom>
          <a:solidFill>
            <a:srgbClr val="FBF3EE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92440" y="2029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consequences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92440" y="2432304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tracking average donation size will read a successful programme as a regression. Agree this before launch, not after.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"Sizes up 28% while counts are flat" may be partly composition — the mix shifting toward one-time donors, who give the largest single gifts.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Amplitude, GFM v2 Prod (530253). Donation events, trailing 12 months unless noted. GDV = sum of donation_amount. Y-axis truncated at $60 to show the gradient.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4 OF 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to give again is made in the first three weeks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retires the annual recap as a conversion tool and makes the post-gift moment the primary lever.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520440" cy="2103120"/>
          </a:xfrm>
          <a:prstGeom prst="roundRect">
            <a:avLst>
              <a:gd name="adj" fmla="val 3913"/>
            </a:avLst>
          </a:prstGeom>
          <a:solidFill>
            <a:srgbClr val="0B2E1F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2140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02A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68680" y="3072384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9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days from a gift to the next gift. Mean 29 days.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15968" y="1920240"/>
            <a:ext cx="3520440" cy="2103120"/>
          </a:xfrm>
          <a:prstGeom prst="roundRect">
            <a:avLst>
              <a:gd name="adj" fmla="val 3913"/>
            </a:avLst>
          </a:prstGeom>
          <a:solidFill>
            <a:srgbClr val="F7F6F3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2157984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36008" y="287121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again within 90 days — 2.49M of 20.2M donors. The baseline to beat.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92440" y="1920240"/>
            <a:ext cx="3520440" cy="2103120"/>
          </a:xfrm>
          <a:prstGeom prst="roundRect">
            <a:avLst>
              <a:gd name="adj" fmla="val 3913"/>
            </a:avLst>
          </a:prstGeom>
          <a:solidFill>
            <a:srgbClr val="F7F6F3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2157984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~$36M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412480" y="287121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GDV per one percentage point of repeat-rate lift.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BF3EE"/>
          </a:solidFill>
          <a:ln w="9525">
            <a:solidFill>
              <a:srgbClr val="EED9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4456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 Giving Wrapped is not a conversion lever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901184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annual recap lands in December for a decision made in February. It is a strong identity and retention play for donors who already returned — and it should be funded and measured as one. The conversion lever is a three-week, in-product, lifecycle-messaged window.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Amplitude funnel, eCommerce - Purchase → eCommerce - Purchase, 90-day conversion window, last 6 months. n = 20.2M donors at step 1.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5 OF 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Interpersonal channels retain twice as well as broadcast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split that predicts repeat giving is interpersonal versus broadcast — not social versus non-social.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10512"/>
          <a:ext cx="72237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046720" y="1810512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E8F5EE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66760" y="2011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2.2×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366760" y="2606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Copy-link referrals versus the 12.3% platform baseline. A person handed you the link.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46720" y="3877056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BF3EE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66760" y="407822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4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10.6%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8366760" y="4672584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social — below the platform average. The channel a celebrity strategy buys.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Amplitude funnel by campaign_medium on the first gift, 90-day window, last 6 months. Green = interpersonal, grey = broadcast, orange = below baseline. Smallest cells: chat n=699, organic_social n=1,053.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proposed mechanic points at the smallest pot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is not that we under-invest in valuable donors. It is that we under-invest in the moment a donor becomes valuable.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834640" y="18288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Aimed 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480560" y="18288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1828800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157984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13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it an owner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834640" y="2331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cohort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80560" y="2304288"/>
            <a:ext cx="1207008" cy="310896"/>
          </a:xfrm>
          <a:prstGeom prst="roundRect">
            <a:avLst>
              <a:gd name="adj" fmla="val 47059"/>
            </a:avLst>
          </a:prstGeom>
          <a:solidFill>
            <a:srgbClr val="028046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30428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as-is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52160" y="2286000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Cheapest item on the list and independent of where GDV sits.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127248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FAF9F7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2826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 nudges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834640" y="33009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80560" y="3273552"/>
            <a:ext cx="1207008" cy="310896"/>
          </a:xfrm>
          <a:prstGeom prst="roundRect">
            <a:avLst>
              <a:gd name="adj" fmla="val 47059"/>
            </a:avLst>
          </a:prstGeom>
          <a:solidFill>
            <a:srgbClr val="028046"/>
          </a:solidFill>
          <a:ln/>
        </p:spPr>
      </p:sp>
      <p:sp>
        <p:nvSpPr>
          <p:cNvPr id="19" name="Text 17"/>
          <p:cNvSpPr/>
          <p:nvPr/>
        </p:nvSpPr>
        <p:spPr>
          <a:xfrm>
            <a:off x="4480560" y="3273552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it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52160" y="3255264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the nudges into the 23-day window. That is where the decision happens.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096512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251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Giving Awards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834640" y="42702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6+ tail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80560" y="4242816"/>
            <a:ext cx="1207008" cy="310896"/>
          </a:xfrm>
          <a:prstGeom prst="roundRect">
            <a:avLst>
              <a:gd name="adj" fmla="val 47059"/>
            </a:avLst>
          </a:prstGeom>
          <a:solidFill>
            <a:srgbClr val="C4531F"/>
          </a:solidFill>
          <a:ln/>
        </p:spPr>
      </p:sp>
      <p:sp>
        <p:nvSpPr>
          <p:cNvPr id="25" name="Text 23"/>
          <p:cNvSpPr/>
          <p:nvPr/>
        </p:nvSpPr>
        <p:spPr>
          <a:xfrm>
            <a:off x="4480560" y="4242816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Re-scope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852160" y="4224528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~403K people, $303M. Fund it as brand and research, not as a GDV lever.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065776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FAF9F7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52212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Tiers &amp; status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2834640" y="52395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6+ tail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80560" y="5212080"/>
            <a:ext cx="1207008" cy="310896"/>
          </a:xfrm>
          <a:prstGeom prst="roundRect">
            <a:avLst>
              <a:gd name="adj" fmla="val 47059"/>
            </a:avLst>
          </a:prstGeom>
          <a:solidFill>
            <a:srgbClr val="C4531F"/>
          </a:solidFill>
          <a:ln/>
        </p:spPr>
      </p:sp>
      <p:sp>
        <p:nvSpPr>
          <p:cNvPr id="31" name="Text 29"/>
          <p:cNvSpPr/>
          <p:nvPr/>
        </p:nvSpPr>
        <p:spPr>
          <a:xfrm>
            <a:off x="4480560" y="521208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852160" y="5193792"/>
            <a:ext cx="5623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FIRST tier — the threshold 4.9M people cross at gift two.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proposed mechanics per Corporate Strategy deck, July 2026, assessed against the GDV distribution above.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1 OF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the cohort an owner, then nudge it in Braze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cohort already exists in Amplitude. Nothing blocks a lifecycle campaign starting this quarter.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3931920"/>
          </a:xfrm>
          <a:prstGeom prst="roundRect">
            <a:avLst>
              <a:gd name="adj" fmla="val 2093"/>
            </a:avLst>
          </a:prstGeom>
          <a:solidFill>
            <a:srgbClr val="F7F6F3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299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395728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lead with a P&amp;L-style mandate: super donor GDV share, retention, and frequency.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nobody is accountable for a cohort worth $1.78B — which is why share drift goes unnoticed.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job: instrument super donor GDV share monthly, so drift is caught in weeks rather than quarters.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49240" cy="3931920"/>
          </a:xfrm>
          <a:prstGeom prst="roundRect">
            <a:avLst>
              <a:gd name="adj" fmla="val 2093"/>
            </a:avLst>
          </a:prstGeom>
          <a:solidFill>
            <a:srgbClr val="E8F5EE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02996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it in Braze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2395728"/>
            <a:ext cx="4709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the existing Amplitude cohort — 2+ donations in 365 days, 7.1M people, already computed.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inside the 23-day window: a thank-you that lands the identity, a second-cause suggestion matched to giving history, a milestone moment.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out a control from day one. It is the only way the $36M-per-point figure becomes defensible.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0" y="52303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Cohort: </a:t>
            </a:r>
            <a:pPr indent="0" marL="0">
              <a:buNone/>
            </a:pPr>
            <a:r>
              <a:rPr lang="en-US" sz="1150" u="sng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Super Donors — 2+ Donations in Past 365 Days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last computed 7,116,695 users. Amplitude → Braze cohort sync is an existing integration pattern; confirm destination availability with the data team.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2 OF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community events — and take donations in the room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highest-retaining channels are all interpersonal. An event is the most interpersonal channel there is.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universal truths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538728" cy="2148840"/>
          </a:xfrm>
          <a:prstGeom prst="roundRect">
            <a:avLst>
              <a:gd name="adj" fmla="val 3830"/>
            </a:avLst>
          </a:prstGeom>
          <a:solidFill>
            <a:srgbClr val="F7F6F3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2331720"/>
            <a:ext cx="365760" cy="365760"/>
          </a:xfrm>
          <a:prstGeom prst="ellipse">
            <a:avLst/>
          </a:prstGeom>
          <a:solidFill>
            <a:srgbClr val="028046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78892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want to spend time together, in person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41248" y="34015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on a feed. Giving is currently a solitary act performed on a phone — the least social version of a fundamentally social impulse.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70248" y="2103120"/>
            <a:ext cx="3538728" cy="2148840"/>
          </a:xfrm>
          <a:prstGeom prst="roundRect">
            <a:avLst>
              <a:gd name="adj" fmla="val 3830"/>
            </a:avLst>
          </a:prstGeom>
          <a:solidFill>
            <a:srgbClr val="F7F6F3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62856" y="2331720"/>
            <a:ext cx="365760" cy="365760"/>
          </a:xfrm>
          <a:prstGeom prst="ellipse">
            <a:avLst/>
          </a:prstGeom>
          <a:solidFill>
            <a:srgbClr val="028046"/>
          </a:solidFill>
          <a:ln/>
        </p:spPr>
      </p:sp>
      <p:sp>
        <p:nvSpPr>
          <p:cNvPr id="13" name="Text 11"/>
          <p:cNvSpPr/>
          <p:nvPr/>
        </p:nvSpPr>
        <p:spPr>
          <a:xfrm>
            <a:off x="4562856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62856" y="278892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want to have fun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62856" y="34015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run, a dinner, a show, a match. The event carries the enjoyment; the giving rides along with it rather than being the ask.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91856" y="2103120"/>
            <a:ext cx="3538728" cy="2148840"/>
          </a:xfrm>
          <a:prstGeom prst="roundRect">
            <a:avLst>
              <a:gd name="adj" fmla="val 3830"/>
            </a:avLst>
          </a:prstGeom>
          <a:solidFill>
            <a:srgbClr val="F7F6F3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84464" y="2331720"/>
            <a:ext cx="365760" cy="365760"/>
          </a:xfrm>
          <a:prstGeom prst="ellipse">
            <a:avLst/>
          </a:prstGeom>
          <a:solidFill>
            <a:srgbClr val="028046"/>
          </a:solidFill>
          <a:ln/>
        </p:spPr>
      </p:sp>
      <p:sp>
        <p:nvSpPr>
          <p:cNvPr id="18" name="Text 16"/>
          <p:cNvSpPr/>
          <p:nvPr/>
        </p:nvSpPr>
        <p:spPr>
          <a:xfrm>
            <a:off x="8284464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84464" y="278892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want meaning and purpose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84464" y="3401568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one GoFundMe already owns. No other events business starts with it — which is the unfair advantage.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0B2E1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61772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them as community events, not fundraisers — and capture the donation in person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" y="4974336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to Donate is the enabling capability and it is already built: the most-requested feature in the book (204+ customers), two sprints from shipping, no hardware needed. The Salvation Army’s ~$100M offline year-end campaign is the named wedge. Events give the capability a reason to exist; the capability makes the events measurable.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channel retention per Amplitude funnel; Tap to Donate scope and estimate per GoFundMe Pro Hackathon Roadmap Recommendations 2026 (v2).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3 OF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Giving Conference — as research, not recognition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super donors together and ask why they give. That answer is the input every other programme is missing.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1874520"/>
          </a:xfrm>
          <a:prstGeom prst="roundRect">
            <a:avLst>
              <a:gd name="adj" fmla="val 4390"/>
            </a:avLst>
          </a:prstGeom>
          <a:solidFill>
            <a:srgbClr val="E8F5EE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feedback loop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359152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the people who already give repeatedly. Ask why. Feed what they say into product, lifecycle messaging and acquisition creative — then measure whether the next cohort behaves differently.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7F6F3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01168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survives the distribution critique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2359152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GDV lever a conference reaches the smallest pot. As a research instrument it is the cheapest way to learn why 7.1M people came back — and there is currently no qualitative evidence on that at all.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262432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4142232"/>
            <a:ext cx="365760" cy="365760"/>
          </a:xfrm>
          <a:prstGeom prst="ellipse">
            <a:avLst/>
          </a:prstGeom>
          <a:solidFill>
            <a:srgbClr val="028046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6384" y="45902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86384" y="4901184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donors, in person, at modest scale.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36392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55848" y="3931920"/>
            <a:ext cx="262432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93592" y="4142232"/>
            <a:ext cx="365760" cy="365760"/>
          </a:xfrm>
          <a:prstGeom prst="ellipse">
            <a:avLst/>
          </a:prstGeom>
          <a:solidFill>
            <a:srgbClr val="028046"/>
          </a:solidFill>
          <a:ln/>
        </p:spPr>
      </p:sp>
      <p:sp>
        <p:nvSpPr>
          <p:cNvPr id="19" name="Text 17"/>
          <p:cNvSpPr/>
          <p:nvPr/>
        </p:nvSpPr>
        <p:spPr>
          <a:xfrm>
            <a:off x="3593592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93592" y="45902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93592" y="4901184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interviews, not a stage show. Why they give, what would make them give again.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63056" y="3931920"/>
            <a:ext cx="2624328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4142232"/>
            <a:ext cx="365760" cy="365760"/>
          </a:xfrm>
          <a:prstGeom prst="ellipse">
            <a:avLst/>
          </a:prstGeom>
          <a:solidFill>
            <a:srgbClr val="028046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45902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it 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4901184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lifecycle copy, cause matching, and the acquisition channels that already retain.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750808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70264" y="3931920"/>
            <a:ext cx="2624328" cy="1828800"/>
          </a:xfrm>
          <a:prstGeom prst="roundRect">
            <a:avLst>
              <a:gd name="adj" fmla="val 4500"/>
            </a:avLst>
          </a:prstGeom>
          <a:solidFill>
            <a:srgbClr val="E8F5EE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08008" y="4142232"/>
            <a:ext cx="365760" cy="365760"/>
          </a:xfrm>
          <a:prstGeom prst="ellipse">
            <a:avLst/>
          </a:prstGeom>
          <a:solidFill>
            <a:srgbClr val="028046"/>
          </a:solidFill>
          <a:ln/>
        </p:spPr>
      </p:sp>
      <p:sp>
        <p:nvSpPr>
          <p:cNvPr id="31" name="Text 29"/>
          <p:cNvSpPr/>
          <p:nvPr/>
        </p:nvSpPr>
        <p:spPr>
          <a:xfrm>
            <a:off x="9208008" y="4142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208008" y="45902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208008" y="4901184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the cohort informed by it converts better than the holdout.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no existing qualitative research on consumer donor motivation was found in the customer intelligence corpus — the 39-interview study covers nonprofit admins, not donors.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4 OF 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Giving Wrapped — identity and sharing, not conversion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 Wrapped works because it is a status object people want to post. Apply the same mechanic to generosity.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029200" cy="3931920"/>
          </a:xfrm>
          <a:prstGeom prst="roundRect">
            <a:avLst>
              <a:gd name="adj" fmla="val 2093"/>
            </a:avLst>
          </a:prstGeom>
          <a:solidFill>
            <a:srgbClr val="0B2E1F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11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A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donor sees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432304"/>
            <a:ext cx="43891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spcAft>
                <a:spcPts val="1400"/>
              </a:spcAft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gave to 5 causes this year."</a:t>
            </a:r>
            <a:endParaRPr lang="en-US" sz="1500" dirty="0"/>
          </a:p>
          <a:p>
            <a:pPr indent="0" marL="0">
              <a:lnSpc>
                <a:spcPts val="2100"/>
              </a:lnSpc>
              <a:spcAft>
                <a:spcPts val="1400"/>
              </a:spcAft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were in the top 3% of donors to animal welfare."</a:t>
            </a:r>
            <a:endParaRPr lang="en-US" sz="1500" dirty="0"/>
          </a:p>
          <a:p>
            <a:pPr indent="0" marL="0">
              <a:lnSpc>
                <a:spcPts val="2100"/>
              </a:lnSpc>
              <a:spcAft>
                <a:spcPts val="1400"/>
              </a:spcAft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showed up for 4 emergencies within 48 hours."</a:t>
            </a:r>
            <a:endParaRPr lang="en-US" sz="1500" dirty="0"/>
          </a:p>
          <a:p>
            <a:pPr indent="0" marL="0">
              <a:lnSpc>
                <a:spcPts val="2100"/>
              </a:lnSpc>
              <a:spcAft>
                <a:spcPts val="1400"/>
              </a:spcAft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and 812 others funded Maria’s surgery."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4956048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9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is the cheapest durable reward available, and a shareable card is an interpersonal channel by construction — the category that already retains 2× baseline.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06440" y="1828800"/>
            <a:ext cx="5806440" cy="1874520"/>
          </a:xfrm>
          <a:prstGeom prst="roundRect">
            <a:avLst>
              <a:gd name="adj" fmla="val 4390"/>
            </a:avLst>
          </a:prstGeom>
          <a:solidFill>
            <a:srgbClr val="E8F5EE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201168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it as identity, not conversion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2359152"/>
            <a:ext cx="5166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23-day window means an annual recap cannot be the conversion mechanic. Its KPIs are share rate, opt-in to a visible tier, and next-year retention of the donors who received it — not second gifts in December.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06440" y="3931920"/>
            <a:ext cx="5806440" cy="1828800"/>
          </a:xfrm>
          <a:prstGeom prst="roundRect">
            <a:avLst>
              <a:gd name="adj" fmla="val 4500"/>
            </a:avLst>
          </a:prstGeom>
          <a:solidFill>
            <a:srgbClr val="F7F6F3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41148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design constraints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26480" y="4462272"/>
            <a:ext cx="5166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Opt-out for private givers. Anonymity is a real preference in giving, unlike in music.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framing needs care — "top 3%" must not read as a leaderboard on someone else’s tragedy.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window and channel figures per Amplitude, as above. Wrapped mechanic is an analogy, not a benchmarked comparison.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PRIZE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Converting 5% of one-time donors is worth ~$123M a year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on the one behaviour every recommendation is aimed at: the second gift.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38728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084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 convert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3957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$24.6M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8680" y="318211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GDV added — 291,735 donors moving from one gift to two.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70248" y="1874520"/>
            <a:ext cx="3538728" cy="2057400"/>
          </a:xfrm>
          <a:prstGeom prst="roundRect">
            <a:avLst>
              <a:gd name="adj" fmla="val 4000"/>
            </a:avLst>
          </a:prstGeom>
          <a:solidFill>
            <a:srgbClr val="E8F5EE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0288" y="2084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convert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90288" y="23957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$123M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90288" y="318211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GDV added — 1.46M donors moving from one gift to two.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91856" y="1874520"/>
            <a:ext cx="3538728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11896" y="2084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convert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11896" y="23957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$246M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311896" y="318211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GDV added — 2.92M donors moving from one gift to two.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11064240" cy="1645920"/>
          </a:xfrm>
          <a:prstGeom prst="roundRect">
            <a:avLst>
              <a:gd name="adj" fmla="val 5000"/>
            </a:avLst>
          </a:prstGeom>
          <a:solidFill>
            <a:srgbClr val="FBF3EE"/>
          </a:solidFill>
          <a:ln w="9525">
            <a:solidFill>
              <a:srgbClr val="EED9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31596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4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these as orders of magnitude, not a forecast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14400" y="46634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figure is the value of an observed gap between donor populations, not a measured treatment effect. Donors in the 2-gift band may simply be different people from one-time donors, in which case moving someone between bands does not deliver $84. A holdout on the 23-day intervention is what converts this slide from a size-of-prize into a business case — and it is the first thing to build.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Amplitude, GFM v2 Prod (530253). Donation events, trailing 12 months unless noted. GDV = sum of donation_amount. Lift per converted donor = $179.00 − $94.63 = $84.37.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analysis does not establish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up front so the recommendations are not oversold, and so the gaps become the workplan.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7F6F3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751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here is causal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describes what different donor populations already do. None demonstrates that an intervention moves a donor between bands.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7F6F3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9751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strongest cells are the smallest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46520" y="228600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referral is n=699 against a 20.2M baseline. Directional colour, not a forecastable rate.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7F6F3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3467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 of donors cannot be attributed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65760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8.3M carry no referral medium, and the field is polluted with Meta ad-set IDs and case duplicates. Channel comparisons describe instrumented traffic only.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320040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7F6F3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3467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GDV totals are in circulation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365760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$1.55B in the working model, $1.74B in the strategy deck, $1.775B from Amplitude. Shares are stable; absolute dollars need one source of truth.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7F6F3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7183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days is a tool ceiling, not a behavioural one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502920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Roughly a third of eventual repeat giving happens outside the window the funnel can see.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457200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F7F6F3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718304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3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only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502920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figures are GFM v2 Prod. Nothing accounts for donors giving through GoFundMe Pro nonprofits, who reasonably consider those relationships theirs.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limit is written up in full on the portfolio site, with the query that produced it.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0280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6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moves, in dependency order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two need no further analysis. The third is what makes the numbers on this deck defensible.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E8F5EE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48840"/>
            <a:ext cx="365760" cy="365760"/>
          </a:xfrm>
          <a:prstGeom prst="ellipse">
            <a:avLst/>
          </a:prstGeom>
          <a:solidFill>
            <a:srgbClr val="02804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98448" y="202082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owner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98448" y="2350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Cheapest item on the list, needs no analysis, and every later decision improves once somebody owns the number.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966960" y="2148840"/>
            <a:ext cx="1463040" cy="347472"/>
          </a:xfrm>
          <a:prstGeom prst="roundRect">
            <a:avLst>
              <a:gd name="adj" fmla="val 47368"/>
            </a:avLst>
          </a:prstGeom>
          <a:solidFill>
            <a:srgbClr val="028046"/>
          </a:solidFill>
          <a:ln/>
        </p:spPr>
      </p:sp>
      <p:sp>
        <p:nvSpPr>
          <p:cNvPr id="11" name="Text 9"/>
          <p:cNvSpPr/>
          <p:nvPr/>
        </p:nvSpPr>
        <p:spPr>
          <a:xfrm>
            <a:off x="9966960" y="21488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916936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E8F5EE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191256"/>
            <a:ext cx="365760" cy="365760"/>
          </a:xfrm>
          <a:prstGeom prst="ellipse">
            <a:avLst/>
          </a:prstGeom>
          <a:solidFill>
            <a:srgbClr val="02804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191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98448" y="3063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 to one GDV figure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98448" y="3392424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window and the revenue field. Re-cut the model, the deck and the site from the same source.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966960" y="3191256"/>
            <a:ext cx="1463040" cy="347472"/>
          </a:xfrm>
          <a:prstGeom prst="roundRect">
            <a:avLst>
              <a:gd name="adj" fmla="val 47368"/>
            </a:avLst>
          </a:prstGeom>
          <a:solidFill>
            <a:srgbClr val="028046"/>
          </a:solidFill>
          <a:ln/>
        </p:spPr>
      </p:sp>
      <p:sp>
        <p:nvSpPr>
          <p:cNvPr id="18" name="Text 16"/>
          <p:cNvSpPr/>
          <p:nvPr/>
        </p:nvSpPr>
        <p:spPr>
          <a:xfrm>
            <a:off x="9966960" y="31912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59352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233672"/>
            <a:ext cx="365760" cy="365760"/>
          </a:xfrm>
          <a:prstGeom prst="ellipse">
            <a:avLst/>
          </a:prstGeom>
          <a:solidFill>
            <a:srgbClr val="02804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98448" y="410565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the 23-day Braze sequence with a holdout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98448" y="443484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cohort exists and the window is known. The holdout is what turns $36M-per-point into a measured effect.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966960" y="4233672"/>
            <a:ext cx="1463040" cy="347472"/>
          </a:xfrm>
          <a:prstGeom prst="roundRect">
            <a:avLst>
              <a:gd name="adj" fmla="val 47368"/>
            </a:avLst>
          </a:prstGeom>
          <a:solidFill>
            <a:srgbClr val="8A867F"/>
          </a:solidFill>
          <a:ln/>
        </p:spPr>
      </p:sp>
      <p:sp>
        <p:nvSpPr>
          <p:cNvPr id="25" name="Text 23"/>
          <p:cNvSpPr/>
          <p:nvPr/>
        </p:nvSpPr>
        <p:spPr>
          <a:xfrm>
            <a:off x="9966960" y="42336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quarter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5001768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6E2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276088"/>
            <a:ext cx="365760" cy="365760"/>
          </a:xfrm>
          <a:prstGeom prst="ellipse">
            <a:avLst/>
          </a:prstGeom>
          <a:solidFill>
            <a:srgbClr val="028046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276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98448" y="514807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one community event with in-person capture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98448" y="5477256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552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to Donate is two sprints from ready. One event, instrumented, tells you whether the interpersonal finding productises.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966960" y="5276088"/>
            <a:ext cx="1463040" cy="347472"/>
          </a:xfrm>
          <a:prstGeom prst="roundRect">
            <a:avLst>
              <a:gd name="adj" fmla="val 47368"/>
            </a:avLst>
          </a:prstGeom>
          <a:solidFill>
            <a:srgbClr val="8A867F"/>
          </a:solidFill>
          <a:ln/>
        </p:spPr>
      </p:sp>
      <p:sp>
        <p:nvSpPr>
          <p:cNvPr id="32" name="Text 30"/>
          <p:cNvSpPr/>
          <p:nvPr/>
        </p:nvSpPr>
        <p:spPr>
          <a:xfrm>
            <a:off x="9966960" y="52760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quarter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6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analysis, queries and limits: the Corporate Strategy section of the internship portfolio.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E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A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ARGUMENT IN ONE 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under-invest in the moment a donor becomes valuable.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9509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moment is the second gift. It happens a median of 23 days after the first. 29.2 million people are sitting one gift away from it — and nobody owns the number.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79476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123F2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005072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A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Backing analysis, every query, and the limits in full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5840" y="4370832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Amplitude cohort: </a:t>
            </a:r>
            <a:pPr indent="0" marL="0">
              <a:buNone/>
            </a:pPr>
            <a:r>
              <a:rPr lang="en-US" sz="120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Super Donors — 2+ Donations in Past 365 Days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4681728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 frequency chart: </a:t>
            </a:r>
            <a:pPr indent="0" marL="0">
              <a:buNone/>
            </a:pPr>
            <a:r>
              <a:rPr lang="en-US" sz="120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Donor Frequency Breakdown — 2x to 10x Donors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Gordon Bailey  ·  Summer 2026  ·  Proprietary &amp; confidential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GoFundMe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Growing GDV Through Repeat Generosity</dc:title>
  <dc:subject>PptxGenJS Presentation</dc:subject>
  <dc:creator>Gordon Bailey</dc:creator>
  <cp:lastModifiedBy>Gordon Bailey</cp:lastModifiedBy>
  <cp:revision>1</cp:revision>
  <dcterms:created xsi:type="dcterms:W3CDTF">2026-07-30T00:32:07Z</dcterms:created>
  <dcterms:modified xsi:type="dcterms:W3CDTF">2026-07-30T00:32:07Z</dcterms:modified>
</cp:coreProperties>
</file>